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Recall@10 Progression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Recall@10 (%)</c:v>
                </c:pt>
              </c:strCache>
            </c:strRef>
          </c:tx>
          <c:spPr>
            <a:solidFill>
              <a:srgbClr val="E862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Popularity</c:v>
                  </c:pt>
                  <c:pt idx="1">
                    <c:v>TT v1</c:v>
                  </c:pt>
                  <c:pt idx="2">
                    <c:v>Reranked v1</c:v>
                  </c:pt>
                  <c:pt idx="3">
                    <c:v>TT v2</c:v>
                  </c:pt>
                  <c:pt idx="4">
                    <c:v>Reranked v2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6.99</c:v>
                </c:pt>
                <c:pt idx="1">
                  <c:v>10.65</c:v>
                </c:pt>
                <c:pt idx="2">
                  <c:v>13.69</c:v>
                </c:pt>
                <c:pt idx="3">
                  <c:v>14.51</c:v>
                </c:pt>
                <c:pt idx="4">
                  <c:v>18.19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2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Multi-Stage Retrieval &amp;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Ranking for Retail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Two-Tower Recommender with RAG-Based Compliance Agents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246120"/>
            <a:ext cx="2286000" cy="0"/>
          </a:xfrm>
          <a:prstGeom prst="line">
            <a:avLst/>
          </a:prstGeom>
          <a:noFill/>
          <a:ln w="31750">
            <a:solidFill>
              <a:srgbClr val="E862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Rishab  |  Data Scientist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Depot — Technical Presentation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0" y="3657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2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2.6×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03520" y="4023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lift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29400" y="3657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2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2.4×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29400" y="4023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 lift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0" y="3657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2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55280" y="4023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256032"/>
          </a:xfrm>
          <a:prstGeom prst="rect">
            <a:avLst>
              <a:gd name="adj" fmla="val 7143"/>
            </a:avLst>
          </a:prstGeom>
          <a:solidFill>
            <a:srgbClr val="E862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Relevance Models to Retail Agents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retail doesn't just need recommendations — it needs intelligent agents that can check inventory, enforce policies, negotiate with vendors, and explain their decisions. This project builds that full stack.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86000"/>
            <a:ext cx="73152" cy="1005840"/>
          </a:xfrm>
          <a:prstGeom prst="rect">
            <a:avLst/>
          </a:prstGeom>
          <a:solidFill>
            <a:srgbClr val="E8621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146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Quality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26700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recsys optimize for relevance but ignore inventory, policy, and explainability constraints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22860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286000"/>
            <a:ext cx="73152" cy="1005840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5146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Blindness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532120" y="26700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OOS or low-stock items erodes trust, increases returns, and wastes fulfillment resources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4290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42900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576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Compliance Trail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234440" y="38130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grounded explanations, compliance teams can't verify why a product was recommended or substituted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54880" y="34290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3429000"/>
            <a:ext cx="73152" cy="10058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65760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3212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Agent-Ready Patterns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532120" y="38130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retrieval + reasoning + structured output pipeline applies to vendor negotiation and warehouse agents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256032"/>
          </a:xfrm>
          <a:prstGeom prst="rect">
            <a:avLst>
              <a:gd name="adj" fmla="val 7143"/>
            </a:avLst>
          </a:prstGeom>
          <a:solidFill>
            <a:srgbClr val="E862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stages: two-stage retrieval + ranking → inventory constraints → RAG policy retrieval → grounded generation. Orchestrated by LangGraph.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1463040" cy="54864"/>
          </a:xfrm>
          <a:prstGeom prst="rect">
            <a:avLst/>
          </a:prstGeom>
          <a:solidFill>
            <a:srgbClr val="E8621C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" y="2039112"/>
            <a:ext cx="329184" cy="329184"/>
          </a:xfrm>
          <a:prstGeom prst="oval">
            <a:avLst/>
          </a:prstGeom>
          <a:solidFill>
            <a:srgbClr val="E8621C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246888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Two-Tower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30352" y="30632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ANN → top-200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20240" y="24231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148840" y="187452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48840" y="1874520"/>
            <a:ext cx="146304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Shape 13"/>
          <p:cNvSpPr/>
          <p:nvPr/>
        </p:nvSpPr>
        <p:spPr>
          <a:xfrm>
            <a:off x="2221992" y="2039112"/>
            <a:ext cx="329184" cy="329184"/>
          </a:xfrm>
          <a:prstGeom prst="oval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2221992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21992" y="246888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221992" y="30632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 → top-10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11880" y="24231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840480" y="187452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0" y="1874520"/>
            <a:ext cx="1463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Shape 20"/>
          <p:cNvSpPr/>
          <p:nvPr/>
        </p:nvSpPr>
        <p:spPr>
          <a:xfrm>
            <a:off x="3913632" y="2039112"/>
            <a:ext cx="329184" cy="329184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3913632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13632" y="246888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913632" y="30632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filter + substitution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03520" y="24231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532120" y="187452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32120" y="1874520"/>
            <a:ext cx="1463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Shape 27"/>
          <p:cNvSpPr/>
          <p:nvPr/>
        </p:nvSpPr>
        <p:spPr>
          <a:xfrm>
            <a:off x="5605272" y="2039112"/>
            <a:ext cx="329184" cy="329184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5605272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05272" y="246888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605272" y="30632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dense+BM25+RRF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95160" y="24231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223760" y="187452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23760" y="1874520"/>
            <a:ext cx="1463040" cy="548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Shape 34"/>
          <p:cNvSpPr/>
          <p:nvPr/>
        </p:nvSpPr>
        <p:spPr>
          <a:xfrm>
            <a:off x="7296912" y="2039112"/>
            <a:ext cx="329184" cy="329184"/>
          </a:xfrm>
          <a:prstGeom prst="oval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7296912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96912" y="246888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296912" y="30632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JSON audit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023360"/>
            <a:ext cx="3246120" cy="41148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023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Backbone (Stages 1–3)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840480" y="4023360"/>
            <a:ext cx="3383280" cy="4114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3" name="Text 41"/>
          <p:cNvSpPr/>
          <p:nvPr/>
        </p:nvSpPr>
        <p:spPr>
          <a:xfrm>
            <a:off x="3931920" y="4023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 (Stages 4–5)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PyTorch, FAISS, LightGBM, LangGraph, OpenAI, Cohere, MLflow, DeepEval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256032"/>
          </a:xfrm>
          <a:prstGeom prst="rect">
            <a:avLst>
              <a:gd name="adj" fmla="val 7143"/>
            </a:avLst>
          </a:prstGeom>
          <a:solidFill>
            <a:srgbClr val="E862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Evaluation Setup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62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3.4M+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62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206K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62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49.7K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37160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62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88920"/>
            <a:ext cx="320040" cy="320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012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Instacart Open-Source Dataset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32004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purchase interactions (orders × products)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features: aisle_id, department_id per product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to users with 3+ orders for signal quality</a:t>
            </a:r>
            <a:endParaRPr lang="en-US" sz="11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78892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4068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Train/Val/Test Split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5029200" y="32004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all orders except last two per user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second-to-last order (early stopping)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last order (final held-out evaluation)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random splits — prevents future data leakage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4" name="Text 20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corpus: 8 Markdown documents (~50 chunks) covering substitutions, cold chain, delivery windows, bulk limits, and promos — simulating a real retail ops library.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256032"/>
          </a:xfrm>
          <a:prstGeom prst="rect">
            <a:avLst>
              <a:gd name="adj" fmla="val 7143"/>
            </a:avLst>
          </a:prstGeom>
          <a:solidFill>
            <a:srgbClr val="E862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Two-Stage Retrieval &amp; Ranking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4114800" cy="54864"/>
          </a:xfrm>
          <a:prstGeom prst="rect">
            <a:avLst/>
          </a:prstGeom>
          <a:solidFill>
            <a:srgbClr val="E8621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Two-Tower Neural Retrieval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1737360" cy="1554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11680"/>
            <a:ext cx="1737360" cy="292608"/>
          </a:xfrm>
          <a:prstGeom prst="rect">
            <a:avLst/>
          </a:prstGeom>
          <a:solidFill>
            <a:srgbClr val="E8621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Tower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→ Emb(128)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128→256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 + Dropout(0.1)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256→128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normalize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2011680"/>
            <a:ext cx="1737360" cy="15544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2606040" y="2011680"/>
            <a:ext cx="173736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2011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Tower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23774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item_id → Emb(128)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aisle_id → Emb(32)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dept_id → Emb(16)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concat(176) → 256→128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normalize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</a:t>
            </a:r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with in-batch negatives + hard negatives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Debiasing: </a:t>
            </a:r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sampling-bias correction (logit -= log q_j)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</a:t>
            </a:r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IndexFlatIP → top-200 candidates per user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417320"/>
            <a:ext cx="393192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GBM Reranker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1965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classifier with CalibratedClassifierCV (sigmoid), trained on validation users, evaluated on held-out test users.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Hand-Crafted Features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926080"/>
          <a:ext cx="3566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Two-tower dot product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log(popularity)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purchase frequency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flag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purchased before?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reorder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Repeat-purchase intent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log(user orders)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activity 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log(user history)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Basket breadth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029200" y="4526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fix: original code trained reranker on test ground truth (label leakage). Now uses val users for training, test users for final eval.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256032"/>
          </a:xfrm>
          <a:prstGeom prst="rect">
            <a:avLst>
              <a:gd name="adj" fmla="val 7143"/>
            </a:avLst>
          </a:prstGeom>
          <a:solidFill>
            <a:srgbClr val="E862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Performance: Baseline → Final System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Experiment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Recall@10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NDCG@10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Recall@20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NDCG@20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Popularity baseline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0.0699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0.0976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0.0955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0.0974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Two-Tower v1 (embed only)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0.1065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0.1047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0.1427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0.1140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Reranked v1 (3 feat, k=20)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0.1369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0.1423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0.1427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0.1326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Two-Tower v2 (MLP + content)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0.1451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0.1742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0.2073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0.1854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621C"/>
                          </a:solidFill>
                        </a:rPr>
                        <a:t>Reranked v2 (6 feat, k=200)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621C"/>
                          </a:solidFill>
                        </a:rPr>
                        <a:t>0.1819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621C"/>
                          </a:solidFill>
                        </a:rPr>
                        <a:t>0.2315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621C"/>
                          </a:solidFill>
                        </a:rPr>
                        <a:t>0.2073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621C"/>
                          </a:solidFill>
                        </a:rPr>
                        <a:t>0.2179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274320" y="3520440"/>
          <a:ext cx="43891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029200" y="352044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21208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Improvement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212080" y="3977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309360" y="3977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0.0699  →  0.1819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8046720" y="39776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+160%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212080" y="4297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309360" y="4297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0.0976  →  0.2315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046720" y="42976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+137%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212080" y="4617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Recall@20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309360" y="4617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0.0955  →  0.2073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046720" y="46177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+117%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256032"/>
          </a:xfrm>
          <a:prstGeom prst="rect">
            <a:avLst>
              <a:gd name="adj" fmla="val 7143"/>
            </a:avLst>
          </a:prstGeom>
          <a:solidFill>
            <a:srgbClr val="E862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Online Metrics &amp; Customer Funnel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metrics (Recall, NDCG) validate model quality. Online metrics measure real business impact at each stage of the customer journey.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196596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783080"/>
            <a:ext cx="1965960" cy="54864"/>
          </a:xfrm>
          <a:prstGeom prst="rect">
            <a:avLst/>
          </a:prstGeom>
          <a:solidFill>
            <a:srgbClr val="E8621C"/>
          </a:solidFill>
          <a:ln/>
        </p:spPr>
      </p:sp>
      <p:sp>
        <p:nvSpPr>
          <p:cNvPr id="8" name="Shape 6"/>
          <p:cNvSpPr/>
          <p:nvPr/>
        </p:nvSpPr>
        <p:spPr>
          <a:xfrm>
            <a:off x="393192" y="1920240"/>
            <a:ext cx="1819656" cy="292608"/>
          </a:xfrm>
          <a:prstGeom prst="rect">
            <a:avLst/>
          </a:prstGeom>
          <a:solidFill>
            <a:srgbClr val="E8621C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1920240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/ Homepage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33172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53288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"Recommended for you"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"Trending in your area"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3246120"/>
            <a:ext cx="174650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333756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9768" y="3538728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Impression-to-click rate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depth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0" y="26974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23160" y="1783080"/>
            <a:ext cx="196596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1783080"/>
            <a:ext cx="196596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Shape 16"/>
          <p:cNvSpPr/>
          <p:nvPr/>
        </p:nvSpPr>
        <p:spPr>
          <a:xfrm>
            <a:off x="2496312" y="1920240"/>
            <a:ext cx="1819656" cy="2926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2496312" y="1920240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32888" y="233172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32888" y="253288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"Frequently bought together"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"Similar items"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32888" y="3246120"/>
            <a:ext cx="174650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32888" y="333756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32888" y="3538728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Add-to-cart rate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attach rate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bounce rate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0" y="26974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26280" y="1783080"/>
            <a:ext cx="196596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6280" y="178308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Shape 26"/>
          <p:cNvSpPr/>
          <p:nvPr/>
        </p:nvSpPr>
        <p:spPr>
          <a:xfrm>
            <a:off x="4599432" y="1920240"/>
            <a:ext cx="1819656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4599432" y="1920240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/ Checkout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36008" y="233172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36008" y="253288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might also need"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Substitutions for OOS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36008" y="3246120"/>
            <a:ext cx="174650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36008" y="333756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36008" y="3538728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addition rate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lift ($)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accept rate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92240" y="26974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629400" y="1783080"/>
            <a:ext cx="196596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629400" y="178308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Shape 36"/>
          <p:cNvSpPr/>
          <p:nvPr/>
        </p:nvSpPr>
        <p:spPr>
          <a:xfrm>
            <a:off x="6702552" y="1920240"/>
            <a:ext cx="1819656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6702552" y="1920240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39128" y="233172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739128" y="253288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"Reorder your favorites"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"Based on last order"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39128" y="3246120"/>
            <a:ext cx="174650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39128" y="333756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739128" y="3538728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rate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retention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value (LTV)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4800600"/>
            <a:ext cx="3931920" cy="2743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4800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Recall@K, NDCG → model selection &amp; iteration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4800600"/>
            <a:ext cx="4023360" cy="2743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8" name="Text 46"/>
          <p:cNvSpPr/>
          <p:nvPr/>
        </p:nvSpPr>
        <p:spPr>
          <a:xfrm>
            <a:off x="4754880" y="4800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CTR, Add-to-Cart, AOV, LTV → business impact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256032"/>
          </a:xfrm>
          <a:prstGeom prst="rect">
            <a:avLst>
              <a:gd name="adj" fmla="val 7143"/>
            </a:avLst>
          </a:prstGeom>
          <a:solidFill>
            <a:srgbClr val="E862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Drove Each Gain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743200" cy="54864"/>
          </a:xfrm>
          <a:prstGeom prst="rect">
            <a:avLst/>
          </a:prstGeom>
          <a:solidFill>
            <a:srgbClr val="E8621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towers (128→256→128)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projection learns feature interactions, not just memorized IDs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 embeddings (dim=32)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7614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in same aisle share structural similarity — generalizes across 50K items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32369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embeddings (16)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41985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Coarser signal helps cold-start items with few interactions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38953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Kaiming initialization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40782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for ReLU — avoids vanishing gradients at startup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0" y="141732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417320"/>
            <a:ext cx="27432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Quality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19202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negative mining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29000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user sample per epoch — forces model to distinguish near-miss items, larger gradient signal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29000" y="25786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debiasing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29000" y="27614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-= log(q_j) corrects over-penalizing popular items as in-batch negatives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29000" y="32369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validation split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29000" y="341985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future data leakage — accurate early-stopping signal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29000" y="38953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2→4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29000" y="40782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training objective = noisier loss curves; more patience avoids premature stopping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17920" y="141732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417320"/>
            <a:ext cx="2606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Pipeline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5080" y="19202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pool 20→200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55080" y="21214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 can only recover what retrieval found — wider pool raises recall ceiling dramatically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55080" y="27432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 (from 3)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55080" y="29443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rate + user activity features give the GBM stronger purchase-intent signals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55080" y="35661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leakage fix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55080" y="37673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 now trains on val users, not test — honest eval on unseen users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256032"/>
          </a:xfrm>
          <a:prstGeom prst="rect">
            <a:avLst>
              <a:gd name="adj" fmla="val 7143"/>
            </a:avLst>
          </a:prstGeom>
          <a:solidFill>
            <a:srgbClr val="E862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Inventory-Aware Filtering &amp; Substitution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560320" cy="54864"/>
          </a:xfrm>
          <a:prstGeom prst="rect">
            <a:avLst/>
          </a:prstGeom>
          <a:solidFill>
            <a:srgbClr val="E8621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Splitting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103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reranked items become primary recommendations. Positions 11–50 form the substitute candidate pool.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Substitutes never drawn from the primary set — maintains recommendation integrity.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06324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3474720" y="146304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0" y="146304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459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690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Status Check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65760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gets a simulated stock flag based on popularity percentile and reorder rate.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749040" y="2788920"/>
            <a:ext cx="109728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4"/>
          <p:cNvSpPr/>
          <p:nvPr/>
        </p:nvSpPr>
        <p:spPr>
          <a:xfrm>
            <a:off x="3977640" y="2788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Stock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749040" y="3108960"/>
            <a:ext cx="109728" cy="20116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0" name="Text 16"/>
          <p:cNvSpPr/>
          <p:nvPr/>
        </p:nvSpPr>
        <p:spPr>
          <a:xfrm>
            <a:off x="3977640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749040" y="3429000"/>
            <a:ext cx="109728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18"/>
          <p:cNvSpPr/>
          <p:nvPr/>
        </p:nvSpPr>
        <p:spPr>
          <a:xfrm>
            <a:off x="3977640" y="34290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08076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6492240" y="1463040"/>
            <a:ext cx="23317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92240" y="1463040"/>
            <a:ext cx="233172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4592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08660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Logic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675120" y="2103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items replaced by best substitute from candidate pool: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675120" y="26060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Same aisle + dept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Same dept, diff aisle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Any available product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675120" y="3337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→ consumed by RAG layer downstream.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256032"/>
          </a:xfrm>
          <a:prstGeom prst="rect">
            <a:avLst>
              <a:gd name="adj" fmla="val 7143"/>
            </a:avLst>
          </a:prstGeom>
          <a:solidFill>
            <a:srgbClr val="E862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Policy Retrieval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query construction feeds parallel dense + sparse retrieval, fused via Reciprocal Rank Fusion, with deterministic policy routing.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73152" cy="640080"/>
          </a:xfrm>
          <a:prstGeom prst="rect">
            <a:avLst/>
          </a:prstGeom>
          <a:solidFill>
            <a:srgbClr val="E8621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01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Construction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 | departments | aisles | warnings | substitute names | top product names → composite query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0" y="2468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621C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78892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FAISS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→ IndexFlatIP → top-20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78892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788920"/>
            <a:ext cx="73152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BM25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tokenizer → BM25Okapi → top-20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621C"/>
                </a:solidFill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886200"/>
            <a:ext cx="73152" cy="640080"/>
          </a:xfrm>
          <a:prstGeom prst="rect">
            <a:avLst/>
          </a:prstGeom>
          <a:solidFill>
            <a:srgbClr val="E8621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 (k=60)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187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score(d) = Σ 1/(k + rank) across both retrievers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43400" y="4023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621C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846320" y="38862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886200"/>
            <a:ext cx="73152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Reranker (optional)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4187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Cross-encoder rerank-english-v3.0 → top-6 chunks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256032"/>
          </a:xfrm>
          <a:prstGeom prst="rect">
            <a:avLst>
              <a:gd name="adj" fmla="val 7143"/>
            </a:avLst>
          </a:prstGeom>
          <a:solidFill>
            <a:srgbClr val="E862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Policy-Grounded LLM Generation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acts as a compliance auditor — it cannot modify recommendations, only explain them against retrieved policy evidence.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Priority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92608" cy="292608"/>
          </a:xfrm>
          <a:prstGeom prst="oval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Constraints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 — OOS never recommended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292608" cy="292608"/>
          </a:xfrm>
          <a:prstGeom prst="oval">
            <a:avLst/>
          </a:prstGeom>
          <a:solidFill>
            <a:srgbClr val="EAB30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Compliance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3154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chain, bulk limits, substitution rules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292608" cy="292608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429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Score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relevance — lowest priority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Structured JSON — per-item SKU, inventory_status, reason, policy_citations, policy_notes. Machine-parseable for downstream systems.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32588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32588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Guardrails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965960"/>
            <a:ext cx="256032" cy="25603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44068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defense — policy docs treated as untrusted data</a:t>
            </a:r>
            <a:endParaRPr lang="en-US" sz="10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468880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44068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integrity — every claim must trace to a retrieved source</a:t>
            </a:r>
            <a:endParaRPr lang="en-US" sz="10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971800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440680" y="2926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 claim verification — lexical overlap against chunks</a:t>
            </a:r>
            <a:endParaRPr lang="en-US" sz="10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474720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40680" y="3429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lock — LLM cannot upgrade stock status of any item</a:t>
            </a:r>
            <a:endParaRPr lang="en-US" sz="105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977640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4068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 — parseable, machine-readable per-item audit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256032"/>
          </a:xfrm>
          <a:prstGeom prst="rect">
            <a:avLst>
              <a:gd name="adj" fmla="val 7143"/>
            </a:avLst>
          </a:prstGeom>
          <a:solidFill>
            <a:srgbClr val="E862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&amp; Generation Quality Metrics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Multi-layered: heuristic quality checks, embedding-based consistency, and LLM-as-judge (DeepEval) metrics. All logged to MLflow.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2880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Confidence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874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1]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1762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reranker score; below 0.15 triggers low-confidence warning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743200"/>
            <a:ext cx="73152" cy="7772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88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7889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1]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0906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DeepEval: are generated claims grounded in retrieved policy chunks?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5760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703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7033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1]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005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claims not supported by context (lower = better)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82880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82880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Consistency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1874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1]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21762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between answer embedding and chunk embeddings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74320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743200"/>
            <a:ext cx="73152" cy="7772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788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Score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0" y="27889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1]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30906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GEval: do recs + justifications respect all inventory warnings?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65760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657600"/>
            <a:ext cx="73152" cy="777240"/>
          </a:xfrm>
          <a:prstGeom prst="rect">
            <a:avLst/>
          </a:prstGeom>
          <a:solidFill>
            <a:srgbClr val="E8621C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3703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Pass Rate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0" y="37033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83480" y="4005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Post-gen: unverified claims, citation mismatches, JSON parse failures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Telemetry: per-stage latency, token counts, USD cost estimation, retrieval score distributions — all logged to MLflow per run.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256032"/>
          </a:xfrm>
          <a:prstGeom prst="rect">
            <a:avLst>
              <a:gd name="adj" fmla="val 7143"/>
            </a:avLst>
          </a:prstGeom>
          <a:solidFill>
            <a:srgbClr val="E862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This Maps to Home Depot Agents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multi-stage retrieval + grounded reasoning pattern directly applies to vendor negotiation and warehouse agents.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"/>
                <a:gridCol w="48463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This Project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Home Depot Agent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Product catalog retrieval (FAISS)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621C"/>
                          </a:solidFill>
                        </a:rPr>
                        <a:t>→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Vendor catalog + warehouse inventory lookup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Inventory constraint checking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621C"/>
                          </a:solidFill>
                        </a:rPr>
                        <a:t>→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Real-time stock across 2,300+ stores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Policy document retrieval (RAG)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621C"/>
                          </a:solidFill>
                        </a:rPr>
                        <a:t>→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Vendor contracts, pricing rules, bulk terms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Substitution logic (OOS → alt)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621C"/>
                          </a:solidFill>
                        </a:rPr>
                        <a:t>→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Alternative vendor/SKU sourcing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Grounded JSON output + citations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621C"/>
                          </a:solidFill>
                        </a:rPr>
                        <a:t>→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Auditable negotiation proposals with contract refs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LLM guardrails + prompt injection defense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621C"/>
                          </a:solidFill>
                        </a:rPr>
                        <a:t>→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Safe agent behavior with untrusted vendor data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LangGraph orchestration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621C"/>
                          </a:solidFill>
                        </a:rPr>
                        <a:t>→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Multi-step agent workflows with state management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hard part of building retail agents isn't the LLM — it's the retrieval pipeline, constraint enforcement, and output validation. This project builds all three.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256032"/>
          </a:xfrm>
          <a:prstGeom prst="rect">
            <a:avLst>
              <a:gd name="adj" fmla="val 7143"/>
            </a:avLst>
          </a:prstGeom>
          <a:solidFill>
            <a:srgbClr val="E862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Communicating Results to Stakeholders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wins only matter if they translate to business outcomes stakeholders can act on. Each audience needs a different framing.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83080"/>
            <a:ext cx="2743200" cy="54864"/>
          </a:xfrm>
          <a:prstGeom prst="rect">
            <a:avLst/>
          </a:prstGeom>
          <a:solidFill>
            <a:srgbClr val="E8621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385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938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 &amp; Product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3317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care about: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25603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Add-to-cart rate uplift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(AOV) impact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&amp; attachment rates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32918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I'd frame it: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improved recommendations surface products customers actually want — 160% more accurate at predicting next purchase. This means higher cart conversion and larger baskets."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1783080"/>
            <a:ext cx="27432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93852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40480" y="1938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Supply Chain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29000" y="23317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care about: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429000" y="25603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recommendation rate reduction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acceptance rate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efficiency (fewer exceptions)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429000" y="32918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I'd frame it: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42900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no longer recommend products we can't deliver. The system checks stock in real-time and offers smart substitutes from the same aisle — reducing fulfillment exceptions and customer complaints."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217920" y="178308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17920" y="1783080"/>
            <a:ext cx="260604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38528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66560" y="19385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/ Finance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355080" y="23317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care about: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355080" y="2560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session lift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&amp; LTV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 reduction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355080" y="32918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I'd frame it: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35508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recommendation now comes with an auditable compliance report. This protects us legally and builds customer trust — driving retention and lifetime value."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1" name="Text 26"/>
          <p:cNvSpPr/>
          <p:nvPr/>
        </p:nvSpPr>
        <p:spPr>
          <a:xfrm>
            <a:off x="640080" y="48463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translate model metrics → funnel metrics → business KPIs. Never present Recall@K to a non-technical audience.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256032"/>
          </a:xfrm>
          <a:prstGeom prst="rect">
            <a:avLst>
              <a:gd name="adj" fmla="val 7143"/>
            </a:avLst>
          </a:prstGeom>
          <a:solidFill>
            <a:srgbClr val="E862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Personal Growth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Leakage in Reranker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code trained the GBM on test set ground truth — inflating reported metrics. Fixed by training on validation users and evaluating on held-out test users.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532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Negative Mining Cost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7523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hard negatives every epoch is expensive. Solved by sampling 25% of users per epoch — maintains gradient quality while keeping training feasible.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2826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vs. Recommendations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5021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retriever doesn't see user intent — same items regardless of query. Addressed by making the RAG layer an auditor; intent-aware re-ranking is planned future work.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0325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Tokenizer Bug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251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whitespace splitting treated 'delivery,' and 'delivery' as different tokens. Fixed with regex tokenizer — required rebuilding the sparse index.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37160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5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057400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4068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retrieval + ranking is industry standard for a reason — separation of concerns enables independent optimization</a:t>
            </a:r>
            <a:endParaRPr lang="en-US" sz="10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60320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4068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rigor matters more than model complexity — fixing label leakage mattered more than architecture changes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063240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44068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(dense + sparse + RRF) catches different failure modes than either alone</a:t>
            </a:r>
            <a:endParaRPr lang="en-US" sz="1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56616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0680" y="3520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guardrails for production — prompt injection defense, output validation, claim verification</a:t>
            </a:r>
            <a:endParaRPr lang="en-US" sz="10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4069080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4068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honesty — knowing when the RAG layer is explaining vs. deciding, and being clear about both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62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 &amp; Next Steps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887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097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Intent-aware re-ranking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0" y="10972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retrieved policies influence which candidates make the top-10, not just explain them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inventory API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657600" y="17830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simulated stock flags with live warehouse/store inventory feeds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032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negotiation agent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3657600" y="2468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same pipeline to query vendor contracts and propose optimal pricing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4612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154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A/B testing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3657600" y="3154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recommendation + agent quality in production with controlled experiments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731520" y="3931920"/>
            <a:ext cx="768096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8" name="Text 12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forward to your questions.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Multi-Stage Retail Recommendation Agent</dc:title>
  <dc:subject>PptxGenJS Presentation</dc:subject>
  <dc:creator>Rishab</dc:creator>
  <cp:lastModifiedBy>Rishab</cp:lastModifiedBy>
  <cp:revision>1</cp:revision>
  <dcterms:created xsi:type="dcterms:W3CDTF">2026-03-04T07:49:51Z</dcterms:created>
  <dcterms:modified xsi:type="dcterms:W3CDTF">2026-03-04T07:49:51Z</dcterms:modified>
</cp:coreProperties>
</file>